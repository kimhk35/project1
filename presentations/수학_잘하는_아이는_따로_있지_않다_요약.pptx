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3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4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charts/chart5.xml" ContentType="application/vnd.openxmlformats-officedocument.drawingml.chart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charts/chart6.xml" ContentType="application/vnd.openxmlformats-officedocument.drawingml.chart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charts/chart7.xml" ContentType="application/vnd.openxmlformats-officedocument.drawingml.chart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Malgun Gothic"/>
              </a:rPr>
              <a:t>한국 15세 · 믿음과 노력 유형별 수학 평균 (PISA 2025)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수학 평균</c:v>
                </c:pt>
              </c:strCache>
            </c:strRef>
          </c:tx>
          <c:spPr>
            <a:solidFill>
              <a:srgbClr val="8A94A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4A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B8B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2704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8C7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정해졌다 · 덜 노력</c:v>
                  </c:pt>
                  <c:pt idx="1">
                    <c:v>바뀐다 · 덜 노력</c:v>
                  </c:pt>
                  <c:pt idx="2">
                    <c:v>정해졌다 · 열심히</c:v>
                  </c:pt>
                  <c:pt idx="3">
                    <c:v>바뀐다 · 열심히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488.9</c:v>
                </c:pt>
                <c:pt idx="1">
                  <c:v>510.5</c:v>
                </c:pt>
                <c:pt idx="2">
                  <c:v>511.8</c:v>
                </c:pt>
                <c:pt idx="3">
                  <c:v>545.7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B6573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0"/>
          <c:min val="45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Malgun Gothic"/>
              </a:rPr>
              <a:t>성공 경험의 세 가지 패턴 (명)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학생 수</c:v>
                </c:pt>
              </c:strCache>
            </c:strRef>
          </c:tx>
          <c:spPr>
            <a:solidFill>
              <a:srgbClr val="2A8C7E"/>
            </a:solidFill>
            <a:effectLst/>
          </c:spPr>
          <c:invertIfNegative val="0"/>
          <c:dLbls>
            <c:numFmt formatCode="0&quot;명&quot;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8C7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270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5CA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계속 성공형</c:v>
                  </c:pt>
                  <c:pt idx="1">
                    <c:v>오르내림형</c:v>
                  </c:pt>
                  <c:pt idx="2">
                    <c:v>잠시 멈춤형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12</c:v>
                </c:pt>
                <c:pt idx="2">
                  <c:v>3</c:v>
                </c:pt>
              </c:numCache>
            </c:numRef>
          </c:val>
        </c:ser>
        <c:dLbls>
          <c:numFmt formatCode="0&quot;명&quot;" sourceLinked="0"/>
          <c:txPr>
            <a:bodyPr/>
            <a:lstStyle/>
            <a:p>
              <a:pPr>
                <a:defRPr b="0" i="0" strike="noStrike" sz="16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573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Malgun Gothic"/>
              </a:rPr>
              <a:t>한 달 뒤 예고 없이 본 시험 정답률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섞어서 풀기</c:v>
                </c:pt>
              </c:strCache>
            </c:strRef>
          </c:tx>
          <c:spPr>
            <a:solidFill>
              <a:srgbClr val="2A8C7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그래프 문제</c:v>
                  </c:pt>
                  <c:pt idx="1">
                    <c:v>기울기 문제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</c:v>
                </c:pt>
                <c:pt idx="1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몰아서 풀기</c:v>
                </c:pt>
              </c:strCache>
            </c:strRef>
          </c:tx>
          <c:spPr>
            <a:solidFill>
              <a:srgbClr val="8A94A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그래프 문제</c:v>
                  </c:pt>
                  <c:pt idx="1">
                    <c:v>기울기 문제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54</c:v>
                </c:pt>
                <c:pt idx="1">
                  <c:v>29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573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Malgun Gothic"/>
              </a:rPr>
              <a:t>49편 연구의 효과크기 (Hedges g)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효과크기</c:v>
                </c:pt>
              </c:strCache>
            </c:strRef>
          </c:tx>
          <c:spPr>
            <a:solidFill>
              <a:srgbClr val="2A8C7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교구 · ICT 활용</c:v>
                  </c:pt>
                  <c:pt idx="1">
                    <c:v>한 명씩 맞춤</c:v>
                  </c:pt>
                  <c:pt idx="2">
                    <c:v>8주 이상</c:v>
                  </c:pt>
                  <c:pt idx="3">
                    <c:v>친구가 도움</c:v>
                  </c:pt>
                  <c:pt idx="4">
                    <c:v>전체 49편</c:v>
                  </c:pt>
                  <c:pt idx="5">
                    <c:v>교사가 도움</c:v>
                  </c:pt>
                  <c:pt idx="6">
                    <c:v>활용 안 함</c:v>
                  </c:pt>
                  <c:pt idx="7">
                    <c:v>8주 미만</c:v>
                  </c:pt>
                  <c:pt idx="8">
                    <c:v>집단으로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0.578</c:v>
                </c:pt>
                <c:pt idx="1">
                  <c:v>0.602</c:v>
                </c:pt>
                <c:pt idx="2">
                  <c:v>0.567</c:v>
                </c:pt>
                <c:pt idx="3">
                  <c:v>0.547</c:v>
                </c:pt>
                <c:pt idx="4">
                  <c:v>0.516</c:v>
                </c:pt>
                <c:pt idx="5">
                  <c:v>0.518</c:v>
                </c:pt>
                <c:pt idx="6">
                  <c:v>0.51</c:v>
                </c:pt>
                <c:pt idx="7">
                  <c:v>0.496</c:v>
                </c:pt>
                <c:pt idx="8">
                  <c:v>0.466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3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Malgun Gothic"/>
              </a:rPr>
              <a:t>AI 없이 공부한 학생 대비 성적 변화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답을 바로 알려 주는 AI</c:v>
                </c:pt>
              </c:strCache>
            </c:strRef>
          </c:tx>
          <c:spPr>
            <a:solidFill>
              <a:srgbClr val="E9A23B"/>
            </a:solidFill>
            <a:effectLst/>
          </c:spPr>
          <c:invertIfNegative val="0"/>
          <c:dLbls>
            <c:numFmt formatCode="+0&quot;%&quot;;-0&quot;%&quot;;&quot;거의 차이 없음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AI와 함께 연습할 때</c:v>
                  </c:pt>
                  <c:pt idx="1">
                    <c:v>AI 없이 시험 볼 때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</c:v>
                </c:pt>
                <c:pt idx="1">
                  <c:v>-17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힌트를 주는 튜터형 AI</c:v>
                </c:pt>
              </c:strCache>
            </c:strRef>
          </c:tx>
          <c:spPr>
            <a:solidFill>
              <a:srgbClr val="2A8C7E"/>
            </a:solidFill>
            <a:effectLst/>
          </c:spPr>
          <c:invertIfNegative val="0"/>
          <c:dLbls>
            <c:numFmt formatCode="+0&quot;%&quot;;-0&quot;%&quot;;&quot;거의 차이 없음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AI와 함께 연습할 때</c:v>
                  </c:pt>
                  <c:pt idx="1">
                    <c:v>AI 없이 시험 볼 때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127</c:v>
                </c:pt>
                <c:pt idx="1">
                  <c:v>0</c:v>
                </c:pt>
              </c:numCache>
            </c:numRef>
          </c:val>
        </c:ser>
        <c:dLbls>
          <c:numFmt formatCode="+0&quot;%&quot;;-0&quot;%&quot;;&quot;거의 차이 없음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5B6573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5"/>
          <c:min val="-3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Malgun Gothic"/>
              </a:rPr>
              <a:t>수학 교사의 하루 평균 시간 (시간)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하루 수업 준비 시간</c:v>
                </c:pt>
              </c:strCache>
            </c:strRef>
          </c:tx>
          <c:spPr>
            <a:solidFill>
              <a:srgbClr val="2A8C7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초등학교</c:v>
                  </c:pt>
                  <c:pt idx="1">
                    <c:v>중학교</c:v>
                  </c:pt>
                  <c:pt idx="2">
                    <c:v>고등학교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2.1</c:v>
                </c:pt>
                <c:pt idx="1">
                  <c:v>1.9</c:v>
                </c:pt>
                <c:pt idx="2">
                  <c:v>2.3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하루 수업 외 행정 업무 시간</c:v>
                </c:pt>
              </c:strCache>
            </c:strRef>
          </c:tx>
          <c:spPr>
            <a:solidFill>
              <a:srgbClr val="E2704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초등학교</c:v>
                  </c:pt>
                  <c:pt idx="1">
                    <c:v>중학교</c:v>
                  </c:pt>
                  <c:pt idx="2">
                    <c:v>고등학교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2.6</c:v>
                </c:pt>
                <c:pt idx="1">
                  <c:v>3</c:v>
                </c:pt>
                <c:pt idx="2">
                  <c:v>3.1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573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Malgun Gothic"/>
              </a:rPr>
              <a:t>수학 성취에 대한 총효과 (PISA 2025, 77개 교육체계)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총효과</c:v>
                </c:pt>
              </c:strCache>
            </c:strRef>
          </c:tx>
          <c:spPr>
            <a:solidFill>
              <a:srgbClr val="8A94A3"/>
            </a:solidFill>
            <a:effectLst/>
          </c:spPr>
          <c:invertIfNegative val="0"/>
          <c:dLbls>
            <c:numFmt formatCode="+0.000;-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4A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9A23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5CA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가정의 사회경제적 배경</c:v>
                  </c:pt>
                  <c:pt idx="1">
                    <c:v>가족의 관심과 지지</c:v>
                  </c:pt>
                  <c:pt idx="2">
                    <c:v>학교생활의 정서 부적응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0.306</c:v>
                </c:pt>
                <c:pt idx="1">
                  <c:v>0.045</c:v>
                </c:pt>
                <c:pt idx="2">
                  <c:v>-0.08</c:v>
                </c:pt>
              </c:numCache>
            </c:numRef>
          </c:val>
        </c:ser>
        <c:dLbls>
          <c:numFmt formatCode="+0.000;-0.000" sourceLinked="0"/>
          <c:txPr>
            <a:bodyPr/>
            <a:lstStyle/>
            <a:p>
              <a:pPr>
                <a:defRPr b="0" i="0" strike="noStrike" sz="13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5B6573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-0.1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A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 ONE IS BORN GOOD AT MATH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9164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 있지 않다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DCE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그렇게 되어 가는 아이가 있을 뿐이다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김홍겸 지음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486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 슬라이드</a:t>
            </a:r>
            <a:endParaRPr lang="en-US" sz="1200" dirty="0"/>
          </a:p>
        </p:txBody>
      </p:sp>
      <p:pic>
        <p:nvPicPr>
          <p:cNvPr id="7" name="Image 0" descr="책 표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8210" y="548640"/>
            <a:ext cx="4070525" cy="576072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프롤로그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교사의 질문 하나에서 시작된 책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3776" y="1757565"/>
            <a:ext cx="5504688" cy="297711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질문하는 아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12429"/>
            <a:ext cx="5394960" cy="286738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493776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교실에서 가장 자주 들은 말은 저는 수학머리가 없어요였다  정말 수학을 잘하는 아이는 따로 정해져 있는 걸까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2537460" cy="2331720"/>
          </a:xfrm>
          <a:prstGeom prst="roundRect">
            <a:avLst>
              <a:gd name="adj" fmla="val 3922"/>
            </a:avLst>
          </a:prstGeom>
          <a:solidFill>
            <a:srgbClr val="F4F6F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29400" y="2011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처음의 질문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629400" y="25146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하면 더 잘 가르칠 수 있을까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수학을 못하는 이유 찾기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9121140" y="1783080"/>
            <a:ext cx="2537460" cy="2331720"/>
          </a:xfrm>
          <a:prstGeom prst="roundRect">
            <a:avLst>
              <a:gd name="adj" fmla="val 3922"/>
            </a:avLst>
          </a:prstGeom>
          <a:solidFill>
            <a:srgbClr val="E8F3F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349740" y="2011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바뀐 질문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9349740" y="25146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잘하게 된 아이들은 어떤 과정을 거쳤을까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성공한 고등학생 21명 면담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0" y="434340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CEDE7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675120" y="450799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675120" y="480060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가르치는 방법을 찾으려 했는데, 아이들은 되어 가는 과정을 보여 주었다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20140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201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책의 구성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오해를 걷어내고, 네 계단을 한 단계씩 오른다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15258" cy="2034540"/>
          </a:xfrm>
          <a:prstGeom prst="roundRect">
            <a:avLst>
              <a:gd name="adj" fmla="val 4494"/>
            </a:avLst>
          </a:prstGeom>
          <a:solidFill>
            <a:srgbClr val="F4F6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5740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제1부 · 1~2장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오해를 걷어내다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26080"/>
            <a:ext cx="296661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수학머리라는 신화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 있지 않다는 증거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38218" y="1828800"/>
            <a:ext cx="3515258" cy="2034540"/>
          </a:xfrm>
          <a:prstGeom prst="roundRect">
            <a:avLst>
              <a:gd name="adj" fmla="val 4494"/>
            </a:avLst>
          </a:prstGeom>
          <a:solidFill>
            <a:srgbClr val="F4F6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2538" y="205740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제2부 · 3~4장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12538" y="2395728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시작하는 아이들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12538" y="2926080"/>
            <a:ext cx="296661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개념 앞에서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이유 찾기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7797" y="1828800"/>
            <a:ext cx="3515258" cy="2034540"/>
          </a:xfrm>
          <a:prstGeom prst="roundRect">
            <a:avLst>
              <a:gd name="adj" fmla="val 4494"/>
            </a:avLst>
          </a:prstGeom>
          <a:solidFill>
            <a:srgbClr val="F4F6F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02117" y="205740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A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제3부 · 5~7장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402117" y="2395728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쌓는 아이들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402117" y="2926080"/>
            <a:ext cx="296661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성공을 쌓는 기술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보고, 그리고, 잇는 수학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말하고 쓰는 수학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137660"/>
            <a:ext cx="3515258" cy="2034540"/>
          </a:xfrm>
          <a:prstGeom prst="roundRect">
            <a:avLst>
              <a:gd name="adj" fmla="val 4494"/>
            </a:avLst>
          </a:prstGeom>
          <a:solidFill>
            <a:srgbClr val="F4F6F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36626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제4부 · 8~9장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704588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버티는 아이들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234940"/>
            <a:ext cx="296661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수학불안과 함께 가기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무너졌을 때, 곁에 있는 사람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38218" y="4137660"/>
            <a:ext cx="3515258" cy="2034540"/>
          </a:xfrm>
          <a:prstGeom prst="roundRect">
            <a:avLst>
              <a:gd name="adj" fmla="val 4494"/>
            </a:avLst>
          </a:prstGeom>
          <a:solidFill>
            <a:srgbClr val="F4F6F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12538" y="436626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5C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제5부 · 10~11장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612538" y="4704588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지키는 아이들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4612538" y="5234940"/>
            <a:ext cx="296661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흔들려도 무너지지 않는 정체성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시대에도 수학을 공부하는 이유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27797" y="4137660"/>
            <a:ext cx="3515258" cy="2034540"/>
          </a:xfrm>
          <a:prstGeom prst="roundRect">
            <a:avLst>
              <a:gd name="adj" fmla="val 4494"/>
            </a:avLst>
          </a:prstGeom>
          <a:solidFill>
            <a:srgbClr val="F4F6F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402117" y="436626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제6부 · 12장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402117" y="4704588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곁의 어른들에게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8402117" y="5234940"/>
            <a:ext cx="296661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부모와 교사가 할 수 있는 일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43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제1부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오해를 걷어내다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3246120"/>
            <a:ext cx="384048" cy="384048"/>
          </a:xfrm>
          <a:prstGeom prst="ellipse">
            <a:avLst/>
          </a:prstGeom>
          <a:solidFill>
            <a:srgbClr val="E270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32461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수학머리라는 신화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813048"/>
            <a:ext cx="384048" cy="384048"/>
          </a:xfrm>
          <a:prstGeom prst="ellipse">
            <a:avLst/>
          </a:prstGeom>
          <a:solidFill>
            <a:srgbClr val="E270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13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 있지 않다는 증거</a:t>
            </a:r>
            <a:endParaRPr lang="en-US" sz="1700" dirty="0"/>
          </a:p>
        </p:txBody>
      </p:sp>
      <p:pic>
        <p:nvPicPr>
          <p:cNvPr id="10" name="Image 0" descr="오해를 걷어내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3775" y="1914570"/>
            <a:ext cx="5669280" cy="3028861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13432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1장 · 수학머리라는 신화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 3위의 아이들이 자신 없다고 말할 때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15258" cy="2377440"/>
          </a:xfrm>
          <a:prstGeom prst="roundRect">
            <a:avLst>
              <a:gd name="adj" fmla="val 3846"/>
            </a:avLst>
          </a:prstGeom>
          <a:solidFill>
            <a:srgbClr val="E8F3F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05740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596점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2608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중2 수학 평균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29184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TIMSS 2023 참여 44개국 가운데 3위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38218" y="1828800"/>
            <a:ext cx="3515258" cy="2377440"/>
          </a:xfrm>
          <a:prstGeom prst="roundRect">
            <a:avLst>
              <a:gd name="adj" fmla="val 3846"/>
            </a:avLst>
          </a:prstGeom>
          <a:solidFill>
            <a:srgbClr val="FCEDE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66818" y="205740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61%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566818" y="292608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수학에 자신 없다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66818" y="329184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 평균 55%보다 높다  열에 여섯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7797" y="1828800"/>
            <a:ext cx="3515258" cy="2377440"/>
          </a:xfrm>
          <a:prstGeom prst="roundRect">
            <a:avLst>
              <a:gd name="adj" fmla="val 3846"/>
            </a:avLst>
          </a:prstGeom>
          <a:solidFill>
            <a:srgbClr val="EAF0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56397" y="205740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559 &gt; 555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356397" y="292608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 없는 한국 학생의 점수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56397" y="329184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 평균의 매우 자신 있는 학생보다 높다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11094415" cy="1234440"/>
          </a:xfrm>
          <a:prstGeom prst="roundRect">
            <a:avLst>
              <a:gd name="adj" fmla="val 8889"/>
            </a:avLst>
          </a:prstGeom>
          <a:solidFill>
            <a:srgbClr val="FCEDE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690872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98348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학생들에게 부족한 것은 실력보다 나는 수학을 할 수 있다는 이야기다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897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 TIMSS 2023 국제 결과 보고서 · 중학교 2학년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13432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1장 · 수학머리라는 신화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믿음과 노력은 한 줄의 양 끝이 아니라 서로 다른 두 축이다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783080"/>
          <a:ext cx="63093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223760" y="1847088"/>
            <a:ext cx="384048" cy="384048"/>
          </a:xfrm>
          <a:prstGeom prst="ellipse">
            <a:avLst/>
          </a:prstGeom>
          <a:solidFill>
            <a:srgbClr val="E2704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2237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1828800"/>
            <a:ext cx="38862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똑같이 노력해도 34점 차이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열심히 하는 아이에게도 나는 원래 안 된다는 목소리가 숨어 있을 수 있다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223760" y="3255264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22376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3236976"/>
            <a:ext cx="38862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공존형 학생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믿음과 노력을 함께 가진 학생이 국제 평균 18.2%, 한국 11.1%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223760" y="4709160"/>
            <a:ext cx="4434840" cy="1463040"/>
          </a:xfrm>
          <a:prstGeom prst="roundRect">
            <a:avLst>
              <a:gd name="adj" fmla="val 7500"/>
            </a:avLst>
          </a:prstGeom>
          <a:solidFill>
            <a:srgbClr val="FCEDE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98080" y="48737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7498080" y="516636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노력과 믿음은 따로 살펴야 한다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13432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1장 · 수학머리라는 신화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빠진 벽돌 하나가 위층을 흔든다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278831" y="2455824"/>
            <a:ext cx="6419088" cy="299791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빠진 벽돌 하나가 위층을 흔든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3695" y="2510688"/>
            <a:ext cx="6309360" cy="28881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847088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1828800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드러나는 자리와 원인이 있는 자리는 다르다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고등학교에서 막힌 것처럼 보여도 원인은 몇 년 전 아래층에 있다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2846832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2846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828544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머리라는 설명은 벽돌 찾기를 멈추게 한다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수학머리가 없다고 말하는 순간 찾아서 메울 이유가 사라진다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3846576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846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3828288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수학머리는 원인이 아니라 결과의 이름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경험이 오랫동안 쌓인 결과에 붙인 이름이다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4800600"/>
            <a:ext cx="4419295" cy="1371600"/>
          </a:xfrm>
          <a:prstGeom prst="roundRect">
            <a:avLst>
              <a:gd name="adj" fmla="val 8000"/>
            </a:avLst>
          </a:prstGeom>
          <a:solidFill>
            <a:srgbClr val="FCEDE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22960" y="4965192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해 볼 한 가지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257800"/>
            <a:ext cx="3870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수학머리가 없다를 아직 이 단원이 덜 쌓였다로 바꾸어 말해 보자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13432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1장 · 수학머리라는 신화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성공은 등급이 아니라 여섯 조각으로 이루어진다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3776" y="2074157"/>
            <a:ext cx="6419088" cy="376124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성공은 등급이 아니라 여섯 조각으로 이루어진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29021"/>
            <a:ext cx="6309360" cy="365151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23760" y="1847088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2237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1828800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성적은 여섯 조각 가운데 하나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달성 · 만족감 · 새 지식과 기술 · 자기개념 · 지속 등이 함께 있다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223760" y="2846832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223760" y="2846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2828544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한가운데는 스스로 해냈다고 느끼는 경험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성공은 아이 스스로 해냈다고 느끼는 경험이다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223760" y="3846576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223760" y="3846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3828288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경험이 쌓여 수학을 하는 사람이 된다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책이 약속하는 것은 등급이 아니라 성공의 경험이다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223760" y="4800600"/>
            <a:ext cx="4419295" cy="1371600"/>
          </a:xfrm>
          <a:prstGeom prst="roundRect">
            <a:avLst>
              <a:gd name="adj" fmla="val 8000"/>
            </a:avLst>
          </a:prstGeom>
          <a:solidFill>
            <a:srgbClr val="FCEDE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498080" y="4965192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5257800"/>
            <a:ext cx="3870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 그렇게 되어 가는 길이 있을 뿐이다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11196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7111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· 따로 있지 않다는 증거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21명 가운데 곧게 오른 길은 소수였다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783080"/>
          <a:ext cx="54864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492240" y="1847088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922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1828800"/>
            <a:ext cx="4617720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 성공형 6명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실패 없이 성공을 이어 온 학생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92240" y="2846832"/>
            <a:ext cx="384048" cy="384048"/>
          </a:xfrm>
          <a:prstGeom prst="ellipse">
            <a:avLst/>
          </a:prstGeom>
          <a:solidFill>
            <a:srgbClr val="E2704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92240" y="2846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040880" y="2828544"/>
            <a:ext cx="4617720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오르내림형 12명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성공과 실패를 오가다 지금은 성공  한때는 수학머리가 없는 아이로 보였을지 모른다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92240" y="3846576"/>
            <a:ext cx="384048" cy="384048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92240" y="3846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040880" y="3828288"/>
            <a:ext cx="4617720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잠시 멈춤형 3명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성공은 도착점이 아니라 머물기 위해 노력해야 하는 상태임을 보여 준다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92240" y="4892040"/>
            <a:ext cx="5166360" cy="1280160"/>
          </a:xfrm>
          <a:prstGeom prst="roundRect">
            <a:avLst>
              <a:gd name="adj" fmla="val 8571"/>
            </a:avLst>
          </a:prstGeom>
          <a:solidFill>
            <a:srgbClr val="FCEDE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766560" y="505663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766560" y="534924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계단을 저마다의 속도로 올랐다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11196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7111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· 따로 있지 않다는 증거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경험의 네 계단과 하나의 핵심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949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08960"/>
                <a:gridCol w="2103120"/>
              </a:tblGrid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시기의 모습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두드러진 전략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새로운 국면 (시작)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이 공부를 하는지 묻고 시작을 다짐한다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자신만의 학습 동기 찾기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경험 축적 (쌓기)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작은 성공을 쌓으며 자기만의 기준을 잡는다  막연한 불안이 함께 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수학불안 극복하기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견디기 (버티기)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성적 · 진로 압박과 스트레스를 견딘다  노력이 결과가 될지 의심한다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스트레스 극복, 의식적으로 흥미 붙들기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 노력 (지키기)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스스로를 성공한 학습자로 인식하고 그 정체성을 지키려 애쓴다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수학적 의사소통, 학습 공동체, 성찰일지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808976" y="1787939"/>
            <a:ext cx="3904488" cy="277920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0" descr="성공 경험의 네 계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842803"/>
            <a:ext cx="3794760" cy="266947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863840" y="4754880"/>
            <a:ext cx="3794760" cy="1417320"/>
          </a:xfrm>
          <a:prstGeom prst="roundRect">
            <a:avLst>
              <a:gd name="adj" fmla="val 7742"/>
            </a:avLst>
          </a:prstGeom>
          <a:solidFill>
            <a:srgbClr val="FCEDE7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8138160" y="49194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핵심범주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138160" y="52120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성공적인 수학 학습자로서의 정체성을 확립하고, 그것을 유지하기 위해 노력한다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11196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7111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· 따로 있지 않다는 증거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이론을 들고 간 것이 아니라 이야기에서 길어 올렸다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278831" y="2341937"/>
            <a:ext cx="6419088" cy="322568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이론을 들고 간 것이 아니라 이야기에서 길어 올렸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3695" y="2396801"/>
            <a:ext cx="6309360" cy="311595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847088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1828800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근거이론이라는 방법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정한 가설을 확인하는 대신 사람들의 이야기에서 개념과 관계를 하나씩 길어 올린다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2846832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2846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828544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21명 → 114개념 → 54 → 21 → 1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열어 보기 · 이어 보기 · 흐름 보기 · 꿰어 보기로 하나의 핵심범주에 모였다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3846576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846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3828288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되물으며 다듬은 지도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학생과 동료 연구자, 교사에게 되물으며 믿을 수 있는지 확인했다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4800600"/>
            <a:ext cx="4419295" cy="1371600"/>
          </a:xfrm>
          <a:prstGeom prst="roundRect">
            <a:avLst>
              <a:gd name="adj" fmla="val 8000"/>
            </a:avLst>
          </a:prstGeom>
          <a:solidFill>
            <a:srgbClr val="FCEDE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22960" y="4965192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257800"/>
            <a:ext cx="3870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곳을 숨긴 지도보다 빈 곳을 표시한 지도가 길 잃은 사람에게 더 쓸모 있다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11196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7111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· 따로 있지 않다는 증거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계단마다 지지의 중심이 옮겨 간다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3776" y="2376103"/>
            <a:ext cx="6419088" cy="315735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계단마다 지지의 중심이 옮겨 간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30967"/>
            <a:ext cx="6309360" cy="304762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23760" y="1847088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2237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1828800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시작할 때  곁의 사람들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 · 교사 · 친구가 수학을 긍정적으로 보게 돕는다  너도 할 수 있다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223760" y="2846832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223760" y="2846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2828544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쌓고 버틸 때  나 자신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자기효능감이 꺼지지 않는 극복 에너지가 된다  어른은 해낸 증거를 함께 찾아 준다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223760" y="3846576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223760" y="3846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3828288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지킬 때  친구와 학습 공동체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설명 덕분에 알았어  함께 해냈다는 동료애와 연대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223760" y="4800600"/>
            <a:ext cx="4419295" cy="1371600"/>
          </a:xfrm>
          <a:prstGeom prst="roundRect">
            <a:avLst>
              <a:gd name="adj" fmla="val 8000"/>
            </a:avLst>
          </a:prstGeom>
          <a:solidFill>
            <a:srgbClr val="FCEDE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498080" y="4965192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5257800"/>
            <a:ext cx="3870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무조건적인 격려보다 지금 아이가 선 계단에 맞는 지지가 더 큰 힘을 낸다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43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제2부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시작하는 아이들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3246120"/>
            <a:ext cx="384048" cy="384048"/>
          </a:xfrm>
          <a:prstGeom prst="ellipse">
            <a:avLst/>
          </a:prstGeom>
          <a:solidFill>
            <a:srgbClr val="E270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32461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개념 앞에서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813048"/>
            <a:ext cx="384048" cy="384048"/>
          </a:xfrm>
          <a:prstGeom prst="ellipse">
            <a:avLst/>
          </a:prstGeom>
          <a:solidFill>
            <a:srgbClr val="E270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13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이유 찾기</a:t>
            </a:r>
            <a:endParaRPr lang="en-US" sz="1700" dirty="0"/>
          </a:p>
        </p:txBody>
      </p:sp>
      <p:pic>
        <p:nvPicPr>
          <p:cNvPr id="10" name="Image 0" descr="시작하는 아이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3775" y="1924855"/>
            <a:ext cx="5669280" cy="300828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180844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808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 · 새 개념 앞에서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성공한 학생들은 잇고, 보고, 확인했다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278831" y="2660821"/>
            <a:ext cx="6419088" cy="2587917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성공한 학생들은 잇고, 보고, 확인했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3695" y="2715685"/>
            <a:ext cx="6309360" cy="247818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847088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1828800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잇기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개념 앞에서 먼저 할 일은 외우기가 아니라 이미 아는 것 가운데 무엇과 닮았는지 찾는 것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2846832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2846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828544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보기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개념을 문제 속에서, 그림 속에서 어떻게 쓰이는지 본다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3846576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846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3828288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확인하기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교과서에 없는 예를 하나, 반례를 하나 스스로 만들어 본다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4800600"/>
            <a:ext cx="4419295" cy="1371600"/>
          </a:xfrm>
          <a:prstGeom prst="roundRect">
            <a:avLst>
              <a:gd name="adj" fmla="val 8000"/>
            </a:avLst>
          </a:prstGeom>
          <a:solidFill>
            <a:srgbClr val="FCEDE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22960" y="4965192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257800"/>
            <a:ext cx="3870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새로워 보이는 개념도 가장 오래된 개념에서 자란다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180844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808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 · 새 개념 앞에서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해설은 한꺼번에 말고 한 줄씩 본다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3776" y="2262216"/>
            <a:ext cx="6419088" cy="3385129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해설은 한꺼번에 말고 한 줄씩 본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17080"/>
            <a:ext cx="6309360" cy="327540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23760" y="1847088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2237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1828800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한꺼번에 보면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읽으면 다 이해되는 것 같지만 다음 날 다시 못 푼다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223760" y="2846832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223760" y="2846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2828544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줄씩 보면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버틴다 → 한두 줄만 본다 → 다음을 예상한다 → 내 풀이와 비교 → 다시 푼다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223760" y="3846576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223760" y="3846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3828288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방법은 배울 수 있고 궁금함은 키울 수 있다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머리가 아니라 새 개념 앞에서 무엇을 하느냐의 문제다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223760" y="4800600"/>
            <a:ext cx="4419295" cy="1371600"/>
          </a:xfrm>
          <a:prstGeom prst="roundRect">
            <a:avLst>
              <a:gd name="adj" fmla="val 8000"/>
            </a:avLst>
          </a:prstGeom>
          <a:solidFill>
            <a:srgbClr val="FCEDE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498080" y="4965192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부모가 해 볼 한 가지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5257800"/>
            <a:ext cx="3870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외웠어? 대신 전에 배운 것 중에 뭐랑 비슷해? 라고 묻자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180844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808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 · 새 개념 앞에서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함수라는 긴 강  학년마다 이름은 달라도 흐르는 물은 하나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278831" y="2519601"/>
            <a:ext cx="6419088" cy="287035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함수라는 긴 강  학년마다 이름은 달라도 흐르는 물은 하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3695" y="2574465"/>
            <a:ext cx="6309360" cy="276063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847088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1828800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개념은 오래된 개념에서 자란다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규칙과 대응 → 정비례 · 반비례 → 일차 · 이차함수 → 지수 · 로그 → 미분 · 적분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2846832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2846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828544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개념 노트 네 칸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잇기 무엇과 닮았나 · 차이 무엇이 다른가 · 보기 예제 속에서 · 확인 내가 만든 예와 반례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3846576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846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3828288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풀이를 나란히 놓기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줄을 찾아 까닭을 설명하는 일이 원리를 가장 선명하게 드러낸다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4800600"/>
            <a:ext cx="4419295" cy="1371600"/>
          </a:xfrm>
          <a:prstGeom prst="roundRect">
            <a:avLst>
              <a:gd name="adj" fmla="val 8000"/>
            </a:avLst>
          </a:prstGeom>
          <a:solidFill>
            <a:srgbClr val="FCEDE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22960" y="4965192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257800"/>
            <a:ext cx="3870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뿌리를 찾으면 새 개념은 더 이상 낯설지 않다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13432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· 나만의 이유 찾기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공부할 이유는 바깥에서 안으로 이어진 하나의 띠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278831" y="2259938"/>
            <a:ext cx="6419088" cy="33896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공부할 이유는 바깥에서 안으로 이어진 하나의 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3695" y="2314802"/>
            <a:ext cx="6309360" cy="32799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847088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1828800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공통점은 저마다 이유가 있었다는 것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성공한 아이들의 이유는 제각각이었다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2846832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2846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828544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바깥에서 온 이유로 시작해도 괜찮다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성공이 쌓이면 이유는 저절로 안으로 들어온다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3846576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846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3828288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흥미는 출발 조건이 아니다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수학을 좋아하지 않아도 잘하게 될 수 있다  흥미는 가는 길에 자란다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4800600"/>
            <a:ext cx="4419295" cy="1371600"/>
          </a:xfrm>
          <a:prstGeom prst="roundRect">
            <a:avLst>
              <a:gd name="adj" fmla="val 8000"/>
            </a:avLst>
          </a:prstGeom>
          <a:solidFill>
            <a:srgbClr val="FCEDE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22960" y="4965192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257800"/>
            <a:ext cx="3870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부모의 기대는 아이 안에서 나만의 이유로 바뀔 때 힘이 되고, 바깥의 압력으로 남을 때 짐이 된다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13432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· 나만의 이유 찾기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기대도 표현 방식에 따라 힘이 되기도, 짐이 되기도 한다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3776" y="2228049"/>
            <a:ext cx="6419088" cy="3453461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같은 기대도 표현 방식에 따라 힘이 되기도, 짐이 되기도 한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2913"/>
            <a:ext cx="6309360" cy="334373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23760" y="1847088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2237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1828800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응원형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결과와 상관없이 응원한다  → 큰 힘이 된다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223760" y="2846832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223760" y="2846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2828544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믿고 맡기는 형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알아서 잘할 거라 믿는다  → 책임감이 생긴다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223760" y="3846576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223760" y="3846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3828288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과도한 기대형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 전반을 관리하고 좋은 성적을 요구한다  → 고맙지만 무겁고 실패할까 두렵다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223760" y="4800600"/>
            <a:ext cx="4419295" cy="1371600"/>
          </a:xfrm>
          <a:prstGeom prst="roundRect">
            <a:avLst>
              <a:gd name="adj" fmla="val 8000"/>
            </a:avLst>
          </a:prstGeom>
          <a:solidFill>
            <a:srgbClr val="FCEDE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498080" y="4965192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5257800"/>
            <a:ext cx="3870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이유가 흔들리는 것은 실패가 아니라 이유를 하나 더 찾을 때가 되었다는 신호다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13432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· 나만의 이유 찾기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왜의 사다리  두세 칸만 올라가도 안쪽의 이유가 보인다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3776" y="2512768"/>
            <a:ext cx="6419088" cy="28840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왜의 사다리  두세 칸만 올라가도 안쪽의 이유가 보인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7632"/>
            <a:ext cx="6309360" cy="27742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23760" y="1847088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2237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1828800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칸 오를 때마다 이유가 안쪽으로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대학에 가려고요 → 하고 싶은 걸 배울 수 있으니까요 → 사람 마음을 연구해 보고 싶어요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223760" y="2846832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223760" y="2846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2828544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몰라요가 나오면 그 칸에서 멈춘다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훌륭한 이유가 아니라 자기 이유를 자기 말로 말해 보는 것이 목적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223760" y="3846576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223760" y="3846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3828288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흥미의 세 가지 온도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뜨거운 흥미 · 골라 좋아하는 흥미 · 미지근한 흥미  세 온도의 학생 모두 성공을 경험했다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223760" y="4800600"/>
            <a:ext cx="4419295" cy="1371600"/>
          </a:xfrm>
          <a:prstGeom prst="roundRect">
            <a:avLst>
              <a:gd name="adj" fmla="val 8000"/>
            </a:avLst>
          </a:prstGeom>
          <a:solidFill>
            <a:srgbClr val="FCEDE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498080" y="4965192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5257800"/>
            <a:ext cx="3870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이유는 문을 열어 준다  입구를 여러 개 열어 두어야 더 많은 아이가 들어온다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43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제3부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쌓는 아이들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3246120"/>
            <a:ext cx="384048" cy="384048"/>
          </a:xfrm>
          <a:prstGeom prst="ellipse">
            <a:avLst/>
          </a:prstGeom>
          <a:solidFill>
            <a:srgbClr val="E270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32461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성공을 쌓는 기술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813048"/>
            <a:ext cx="384048" cy="384048"/>
          </a:xfrm>
          <a:prstGeom prst="ellipse">
            <a:avLst/>
          </a:prstGeom>
          <a:solidFill>
            <a:srgbClr val="E270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13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보고, 그리고, 잇는 수학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4379976"/>
            <a:ext cx="384048" cy="384048"/>
          </a:xfrm>
          <a:prstGeom prst="ellipse">
            <a:avLst/>
          </a:prstGeom>
          <a:solidFill>
            <a:srgbClr val="E270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3799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말하고 쓰는 수학</a:t>
            </a:r>
            <a:endParaRPr lang="en-US" sz="1700" dirty="0"/>
          </a:p>
        </p:txBody>
      </p:sp>
      <p:pic>
        <p:nvPicPr>
          <p:cNvPr id="13" name="Image 0" descr="쌓는 아이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3775" y="1922410"/>
            <a:ext cx="5669280" cy="301318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11196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7111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· 작은 성공을 쌓는 기술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도장깨기  막연한 목표를 눈에 보이는 관문으로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278831" y="2082274"/>
            <a:ext cx="6419088" cy="374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도장깨기  막연한 목표를 눈에 보이는 관문으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3695" y="2137138"/>
            <a:ext cx="6309360" cy="363528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847088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1828800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샘은 직접 해낸 경험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단단한 자신감은 실패를 이겨 본 데서 나온다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2846832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2846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828544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깬 도장을 다시 찾아간다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사흘 뒤, 일주일 뒤 다시 풀리면 별을 붙인다  별이 붙은 도장이 진짜 쌓인 도장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3846576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846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3828288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비교의 대상은 어제의 아이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한 줄 성공 기록이 한 달이면 보이지 않던 진전을 보여 준다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4800600"/>
            <a:ext cx="4419295" cy="1371600"/>
          </a:xfrm>
          <a:prstGeom prst="roundRect">
            <a:avLst>
              <a:gd name="adj" fmla="val 8000"/>
            </a:avLst>
          </a:prstGeom>
          <a:solidFill>
            <a:srgbClr val="FCEDE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22960" y="4965192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257800"/>
            <a:ext cx="3870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도장깨기는 작은 성공이 쌓이는 것을 보이게 만든다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11196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7111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· 작은 성공을 쌓는 기술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쉽게 풀리는 연습이 좋은 연습은 아니다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783080"/>
          <a:ext cx="58521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766560" y="1847088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7665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1828800"/>
            <a:ext cx="4343400" cy="957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문제, 순서만 다르게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 중1 126명이 석 달 동안 같은 문제를 풀었다  차이는 문제의 순서뿐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766560" y="2968752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766560" y="2968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0" y="2950464"/>
            <a:ext cx="4343400" cy="957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섞어 풀면 고르는 연습을 한다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처음엔 틀리는 문제가 늘어 불편하지만 그 불편함이 시험장에서 필요한 힘이 자라는 소리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766560" y="4090416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766560" y="4090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0" y="4072128"/>
            <a:ext cx="4343400" cy="957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점수보다 코멘트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없이 코멘트만 받은 무리의 흥미와 수행이 가장 높았다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766560" y="58521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 Rohrer, Dedrick, Stershic(2015) · Butler(1988)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11196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7111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· 작은 성공을 쌓는 기술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할 수 있다는 믿음이 솟는 네 개의 샘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3776" y="2364714"/>
            <a:ext cx="6419088" cy="3180131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나는 할 수 있다는 믿음이 솟는 네 개의 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19578"/>
            <a:ext cx="6309360" cy="307040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23760" y="1847088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2237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1828800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해낸 경험  가장 큰 샘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풀어냈다는 경험이 자기효능감을 가장 크게 채운다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223760" y="2846832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223760" y="2846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2828544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배운 경험과 격려의 말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친구가 해낸 것을 보거나 너는 할 수 있어라는 말을 들을 때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223760" y="3846576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223760" y="3846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3828288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몸과 마음의 상태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심장이 뛰는 것을 두려움으로 읽는지 설렘으로 읽는지에 따라 달라진다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223760" y="4800600"/>
            <a:ext cx="4419295" cy="1371600"/>
          </a:xfrm>
          <a:prstGeom prst="roundRect">
            <a:avLst>
              <a:gd name="adj" fmla="val 8000"/>
            </a:avLst>
          </a:prstGeom>
          <a:solidFill>
            <a:srgbClr val="FCEDE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498080" y="4965192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5257800"/>
            <a:ext cx="3870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단단한 자신감은 한 번도 실패하지 않은 데서가 아니라 실패를 이겨 본 데서 나온다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11196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7111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· 작은 성공을 쌓는 기술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평가가 작은 성공의 무대가 되려면 기준이 선명해야 한다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278831" y="2407992"/>
            <a:ext cx="6419088" cy="3093577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평가가 작은 성공의 무대가 되려면 기준이 선명해야 한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3695" y="2462856"/>
            <a:ext cx="6309360" cy="298384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847088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1828800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흐릿한 기준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풀이가 우수함 · 보통 · 미흡  무엇을 해냈는지 알 수 없다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2846832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2846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828544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선명한 기준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조건을 식으로 세웠다 · 꼭짓점을 구했다 · 범위에서 판단했다 · 뜻을 설명했다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3846576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846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3828288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공부 방식이 옳은지는 없다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나에게 맞는 방식을 아는 것이 둘째 계단이 남기는 진짜 결과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4800600"/>
            <a:ext cx="4419295" cy="1371600"/>
          </a:xfrm>
          <a:prstGeom prst="roundRect">
            <a:avLst>
              <a:gd name="adj" fmla="val 8000"/>
            </a:avLst>
          </a:prstGeom>
          <a:solidFill>
            <a:srgbClr val="FCEDE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22960" y="4965192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선명한 기준이 보여 주는 것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257800"/>
            <a:ext cx="3870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①②는 해냈고 ③에서 막혔다  작은 성공과 다음 목표가 함께 보인다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976372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9763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6장 · 보고, 그리고, 잇는 수학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연결선 위에 말을 쓸 수 없는 곳이 다음에 배울 곳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278831" y="2152884"/>
            <a:ext cx="6419088" cy="360379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연결선 위에 말을 쓸 수 없는 곳이 다음에 배울 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3695" y="2207748"/>
            <a:ext cx="6309360" cy="349406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847088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1828800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개념을 한 장에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마인드맵과 컨셉트맵의 힘은 예쁜 그림이 아니라 관계를 고민하게 만드는 데 있다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2846832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2846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828544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바꿔 보아도 변하지 않는 것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그림은 한 경우가 아니라 언제나 성립하는 것을 보여 준다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3846576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846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3828288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 → 그림 → 기호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하나를 고를 필요 없이 구체에서 시작해 천천히 기호로 옮겨 간다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4800600"/>
            <a:ext cx="4419295" cy="1371600"/>
          </a:xfrm>
          <a:prstGeom prst="roundRect">
            <a:avLst>
              <a:gd name="adj" fmla="val 8000"/>
            </a:avLst>
          </a:prstGeom>
          <a:solidFill>
            <a:srgbClr val="FCEDE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22960" y="4965192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257800"/>
            <a:ext cx="3870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개념을 안다는 것은 표현과 표현 사이를 오갈 수 있다는 것이다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976372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9763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6장 · 보고, 그리고, 잇는 수학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개념, 다섯 개의 얼굴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3776" y="2193883"/>
            <a:ext cx="6419088" cy="3521793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하나의 개념, 다섯 개의 얼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48747"/>
            <a:ext cx="6309360" cy="341206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23760" y="1847088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2237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1828800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· 식 · 표 · 그래프 · 말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택시 요금 1에 1km마다 2씩 → y = 2x + 1 → 표 → 기울기 2 · y절편 1 → 말로 설명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223760" y="2846832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223760" y="2846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2828544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화살표 하나하나가 번역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표현에서 다른 표현으로 옮길 수 있을 때 개념이 단단해진다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223760" y="3846576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223760" y="3846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3828288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감각도 자라는 힘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떠올려 보고, 돌려 보고, 확인하는 경험 속에서 자란다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223760" y="4800600"/>
            <a:ext cx="4419295" cy="1371600"/>
          </a:xfrm>
          <a:prstGeom prst="roundRect">
            <a:avLst>
              <a:gd name="adj" fmla="val 8000"/>
            </a:avLst>
          </a:prstGeom>
          <a:solidFill>
            <a:srgbClr val="FCEDE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498080" y="4965192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교사가 해 볼 한 가지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5257800"/>
            <a:ext cx="3870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끝 5분, 표현 사이를 오가는 번역 질문 하나를 던져 보자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13432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7장 · 말하고 쓰는 수학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도움의 사다리  가능한 한 낮은 칸에서 멈춘다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3776" y="2442158"/>
            <a:ext cx="6419088" cy="3025245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도움의 사다리  가능한 한 낮은 칸에서 멈춘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97022"/>
            <a:ext cx="6309360" cy="291551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23760" y="1847088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2237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1828800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설명은 가장 정직한 시험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설명이 막히는 곳은 개념이 흐릿한 곳이다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223760" y="2846832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223760" y="2846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2828544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도움은 답이 아니라 사다리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되묻기 → 힌트 → 방향 → 한 줄 보여 주기 → 전체 풀이 순으로 낮은 칸에서 멈춘다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223760" y="3846576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223760" y="3846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3828288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초의 기다림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발문 뒤 3초를 기다리면 말하지 않던 아이의 입이 열린다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223760" y="4800600"/>
            <a:ext cx="4419295" cy="1371600"/>
          </a:xfrm>
          <a:prstGeom prst="roundRect">
            <a:avLst>
              <a:gd name="adj" fmla="val 8000"/>
            </a:avLst>
          </a:prstGeom>
          <a:solidFill>
            <a:srgbClr val="FCEDE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498080" y="4965192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5257800"/>
            <a:ext cx="3870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학습 공동체는 잘하는 아이들의 울타리가 아니라 막 올라오는 아이에게 내미는 사다리다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13432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7장 · 말하고 쓰는 수학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5분이면 채우는 오늘의 수학 성찰일지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6035040" cy="914400"/>
          </a:xfrm>
          <a:prstGeom prst="roundRect">
            <a:avLst>
              <a:gd name="adj" fmla="val 10000"/>
            </a:avLst>
          </a:prstGeom>
          <a:solidFill>
            <a:srgbClr val="E8F3F1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18288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새로 알게 된 것 한 가지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6035040" cy="914400"/>
          </a:xfrm>
          <a:prstGeom prst="roundRect">
            <a:avLst>
              <a:gd name="adj" fmla="val 10000"/>
            </a:avLst>
          </a:prstGeom>
          <a:solidFill>
            <a:srgbClr val="FDF3E1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154680"/>
            <a:ext cx="457200" cy="45720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2926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헷갈리는 것 한 가지 (어디서 막혔나)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6035040" cy="914400"/>
          </a:xfrm>
          <a:prstGeom prst="roundRect">
            <a:avLst>
              <a:gd name="adj" fmla="val 10000"/>
            </a:avLst>
          </a:prstGeom>
          <a:solidFill>
            <a:srgbClr val="EFEDF7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6B5CA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0233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친구에게 설명한다면 첫 문장은?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6035040" cy="914400"/>
          </a:xfrm>
          <a:prstGeom prst="roundRect">
            <a:avLst>
              <a:gd name="adj" fmla="val 10000"/>
            </a:avLst>
          </a:prstGeom>
          <a:solidFill>
            <a:srgbClr val="FCEDE7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349240"/>
            <a:ext cx="457200" cy="457200"/>
          </a:xfrm>
          <a:prstGeom prst="ellipse">
            <a:avLst/>
          </a:prstGeom>
          <a:solidFill>
            <a:srgbClr val="E270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120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 전에 할 일 한 가지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040880" y="1847088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04088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0" y="1828800"/>
            <a:ext cx="40690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쓰는 것이 핵심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고1 171명 1년 연구에서 성찰일지를 쓰는 횟수가 쓰기 자신감과 공부 방법을 이어 주었다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40880" y="3300984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04088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3282696"/>
            <a:ext cx="406908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설명도 설명이다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구체적인 질문을 받은 자기 설명은 혼자 공부하는 밤에도 이해를 깊게 한다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040880" y="4846320"/>
            <a:ext cx="4617720" cy="1325880"/>
          </a:xfrm>
          <a:prstGeom prst="roundRect">
            <a:avLst>
              <a:gd name="adj" fmla="val 8276"/>
            </a:avLst>
          </a:prstGeom>
          <a:solidFill>
            <a:srgbClr val="FCEDE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0" y="501091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315200" y="530352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 꺼낼수록 이해는 단단해진다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13432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7장 · 말하고 쓰는 수학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대화를 여는 다섯 가지 말  교실에서, 그리고 식탁에서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50799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교실에서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C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식탁에서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704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되말하기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 말은 꼭짓점이 축 위에 있다는 거지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오늘은 이런 걸 배웠구나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말해 보기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방금 한 말을 누가 자기 말로 다시 해 볼까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엄마가 이해하게 한 번 더 말해 줄래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동의하니? 왜?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풀이에 동의하니  왜 그렇게 생각해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그게 왜 그렇게 되는 거야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덧붙일 사람?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여기에 덧붙이고 싶은 사람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또 알게 된 건 없어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기다리기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질문을 던진 뒤 몇 초를 더 기다린다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답을 대신 말하지 않기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7150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대화를 여는 것은 좋은 질문보다 기다림이다  몇 초의 기다림이 말하지 않던 아이의 입을 연다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43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제4부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버티는 아이들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3246120"/>
            <a:ext cx="384048" cy="384048"/>
          </a:xfrm>
          <a:prstGeom prst="ellipse">
            <a:avLst/>
          </a:prstGeom>
          <a:solidFill>
            <a:srgbClr val="E270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32461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수학불안과 함께 가기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813048"/>
            <a:ext cx="384048" cy="384048"/>
          </a:xfrm>
          <a:prstGeom prst="ellipse">
            <a:avLst/>
          </a:prstGeom>
          <a:solidFill>
            <a:srgbClr val="E270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13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무너졌을 때, 곁에 있는 사람</a:t>
            </a:r>
            <a:endParaRPr lang="en-US" sz="1700" dirty="0"/>
          </a:p>
        </p:txBody>
      </p:sp>
      <p:pic>
        <p:nvPicPr>
          <p:cNvPr id="10" name="Image 0" descr="버티는 아이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3775" y="1922410"/>
            <a:ext cx="5669280" cy="3013181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78608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8장 · 수학불안과 함께 가기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불안은 실력이 아니라 생각할 자리를 가린다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278831" y="2583378"/>
            <a:ext cx="6419088" cy="27428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불안은 실력이 아니라 생각할 자리를 가린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3695" y="2638242"/>
            <a:ext cx="6309360" cy="263307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847088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1828800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마음은 실력을 따라 저절로 자라지 않는다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불안을 다루는 법은 따로 배워야 한다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2846832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2846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828544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걸음 물러서면 고리는 불안 쪽으로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아주 작게라도 다가가면 고리는 성공 쪽으로 돈다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3846576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846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3828288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떨림에 설렘이라는 이름을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억지로 가라앉히기보다 몸이 준비를 마쳤다는 신호로 다시 읽는다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4800600"/>
            <a:ext cx="4419295" cy="1371600"/>
          </a:xfrm>
          <a:prstGeom prst="roundRect">
            <a:avLst>
              <a:gd name="adj" fmla="val 8000"/>
            </a:avLst>
          </a:prstGeom>
          <a:solidFill>
            <a:srgbClr val="FCEDE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22960" y="4965192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257800"/>
            <a:ext cx="3870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아이는 부모의 설명보다 부모의 표정에서 수학을 먼저 배운다</a:t>
            </a:r>
            <a:endParaRPr lang="en-US" sz="14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78608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8장 · 수학불안과 함께 가기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전 10분, 불안과 함께 가는 루틴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560320" cy="2834640"/>
          </a:xfrm>
          <a:prstGeom prst="roundRect">
            <a:avLst>
              <a:gd name="adj" fmla="val 3571"/>
            </a:avLst>
          </a:prstGeom>
          <a:solidFill>
            <a:srgbClr val="FCEDE7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E270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· 5분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246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걱정 쏟아 쓰기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49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드는 걱정을 종이에 솔직하게 쓴다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9260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3383280" y="1828800"/>
            <a:ext cx="2560320" cy="2834640"/>
          </a:xfrm>
          <a:prstGeom prst="roundRect">
            <a:avLst>
              <a:gd name="adj" fmla="val 3571"/>
            </a:avLst>
          </a:prstGeom>
          <a:solidFill>
            <a:srgbClr val="FDF3E1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0" y="2103120"/>
            <a:ext cx="640080" cy="64008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9A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· 1분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3246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 다시 읽기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3749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두근거림은 몸이 준비를 마쳤다는 신호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29260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217920" y="1828800"/>
            <a:ext cx="2560320" cy="2834640"/>
          </a:xfrm>
          <a:prstGeom prst="roundRect">
            <a:avLst>
              <a:gd name="adj" fmla="val 3571"/>
            </a:avLst>
          </a:prstGeom>
          <a:solidFill>
            <a:srgbClr val="E8F3F1"/>
          </a:solidFill>
          <a:ln/>
        </p:spPr>
      </p:sp>
      <p:sp>
        <p:nvSpPr>
          <p:cNvPr id="22" name="Shape 20"/>
          <p:cNvSpPr/>
          <p:nvPr/>
        </p:nvSpPr>
        <p:spPr>
          <a:xfrm>
            <a:off x="6492240" y="2103120"/>
            <a:ext cx="640080" cy="640080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922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· 1분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3246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혼잣말 한 줄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3749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 넘어갔다가 다시 오면 된다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778240" y="29260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9052560" y="1828800"/>
            <a:ext cx="2560320" cy="2834640"/>
          </a:xfrm>
          <a:prstGeom prst="roundRect">
            <a:avLst>
              <a:gd name="adj" fmla="val 3571"/>
            </a:avLst>
          </a:prstGeom>
          <a:solidFill>
            <a:srgbClr val="EAF0F6"/>
          </a:solidFill>
          <a:ln/>
        </p:spPr>
      </p:sp>
      <p:sp>
        <p:nvSpPr>
          <p:cNvPr id="29" name="Shape 27"/>
          <p:cNvSpPr/>
          <p:nvPr/>
        </p:nvSpPr>
        <p:spPr>
          <a:xfrm>
            <a:off x="9326880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3268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32688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· 시험 시작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326880" y="3246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문제부터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9326880" y="3749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문제의 작은 성공으로 생각 책상을 넓힌다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4937760"/>
            <a:ext cx="11094415" cy="1234440"/>
          </a:xfrm>
          <a:prstGeom prst="roundRect">
            <a:avLst>
              <a:gd name="adj" fmla="val 8889"/>
            </a:avLst>
          </a:prstGeom>
          <a:solidFill>
            <a:srgbClr val="EAF0F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2960" y="5102352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539496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불안을 없애려 하기보다 불안이 생각할 자리를 덜 차지하게 만든다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78608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8장 · 수학불안과 함께 가기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견디기 단계의 학생들을 누른 네 가지 무게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3776" y="2442158"/>
            <a:ext cx="6419088" cy="3025245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견디기 단계의 학생들을 누른 네 가지 무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97022"/>
            <a:ext cx="6309360" cy="291551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23760" y="1847088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2237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1828800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문제와 결과에서 오는 무게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번 해도 안 풀릴 때, 들인 시간만큼 성적이 안 나올 때  수학에게 배신당한 느낌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223760" y="2846832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223760" y="2846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2828544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진로와 부모에게서 오는 무게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대학에 못 갈까 두려울 때, 과정은 인정받지 못하고 점수만 볼 때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223760" y="3846576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223760" y="3846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3828288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갈래로 넘었다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실력을 키워 원인을 없애는 길과 마음을 다스려 함께 가는 힘을 키우는 길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223760" y="4800600"/>
            <a:ext cx="4419295" cy="1371600"/>
          </a:xfrm>
          <a:prstGeom prst="roundRect">
            <a:avLst>
              <a:gd name="adj" fmla="val 8000"/>
            </a:avLst>
          </a:prstGeom>
          <a:solidFill>
            <a:srgbClr val="FCEDE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498080" y="4965192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5257800"/>
            <a:ext cx="3870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무게가 한 가지가 아니듯 버티는 방법도 한 가지가 아니어야 한다</a:t>
            </a:r>
            <a:endParaRPr lang="en-US" sz="14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241548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2415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9장 · 무너졌을 때, 곁에 있는 사람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시험을 망친 날, 어른의 첫 문장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3776" y="2442158"/>
            <a:ext cx="6419088" cy="3025245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시험을 망친 날, 어른의 첫 문장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97022"/>
            <a:ext cx="6309360" cy="291551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23760" y="1847088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2237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1828800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따지는 말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이것밖에 못했어?  → 실패는 무서운 일이 된다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223760" y="2846832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223760" y="2846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2828544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능력으로 위로하는 말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괜찮아, 원래 못할 수도 있어  → 더 해 봐야 소용없다고 배운다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223760" y="3846576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223760" y="3846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3828288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배움으로 이끄는 말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막혔는지 같이 볼까?  → 실수보다 다음에 바꿀 것이 있다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223760" y="4800600"/>
            <a:ext cx="4419295" cy="1371600"/>
          </a:xfrm>
          <a:prstGeom prst="roundRect">
            <a:avLst>
              <a:gd name="adj" fmla="val 8000"/>
            </a:avLst>
          </a:prstGeom>
          <a:solidFill>
            <a:srgbClr val="FCEDE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498080" y="4965192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5257800"/>
            <a:ext cx="3870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아이는 어른의 좋은 말보다 넘어진 순간 어른의 반응에서 실패가 무엇인지를 배운다</a:t>
            </a:r>
            <a:endParaRPr lang="en-US" sz="14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241548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2415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9장 · 무너졌을 때, 곁에 있는 사람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가족의 지지는 점수가 아니라 마음을 거쳐 간다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278831" y="2512768"/>
            <a:ext cx="6419088" cy="28840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가족의 지지는 점수가 아니라 마음을 거쳐 간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3695" y="2567632"/>
            <a:ext cx="6309360" cy="27742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847088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1828800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지지에도 때가 있다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시작할 때는 곁의 어른과 친구, 쌓고 버틸 때는 나 자신, 지켜 낼 때는 함께 공부하는 친구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2846832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2846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828544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질문은 가장 빠른 길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질문은 부족함의 고백이 아니라 자라기 위한 가장 빠른 길이다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3846576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846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3828288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지적은 믿음의 표현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고칠 점을 말할 때 너는 할 수 있다고 믿기 때문이라는 까닭을 함께 말해 준다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4800600"/>
            <a:ext cx="4419295" cy="1371600"/>
          </a:xfrm>
          <a:prstGeom prst="roundRect">
            <a:avLst>
              <a:gd name="adj" fmla="val 8000"/>
            </a:avLst>
          </a:prstGeom>
          <a:solidFill>
            <a:srgbClr val="FCEDE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22960" y="4965192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257800"/>
            <a:ext cx="3870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어른이 할 일은 대신 올라 주는 것이 아니라 어디서부터 다시 오르면 되는지 함께 보는 것</a:t>
            </a:r>
            <a:endParaRPr lang="en-US" sz="14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241548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2415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9장 · 무너졌을 때, 곁에 있는 사람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수학이 어려운 아이도 적절한 도움을 받으면 분명히 나아진다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783080"/>
          <a:ext cx="63093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223760" y="1847088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2237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1828800"/>
            <a:ext cx="3886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조건에서 중간 이상의 효과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 지도, 8주 이상, 교구 · ICT 활용 쪽이 조금 더 컸다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223760" y="3090672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22376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3072384"/>
            <a:ext cx="3886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빈칸이 어디인지 먼저 본다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지도로 어디서부터 비었는지 찾아 그 칸부터 다시 채운다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223760" y="4334256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22376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0" y="4315968"/>
            <a:ext cx="3886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학습 모임은 초대하는 문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잘하는 아이들끼리의 울타리가 아니라 힘든 친구를 초대하는 자리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223760" y="56692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 김홍겸(2020) · 조건 사이 차이는 통계적으로 뚜렷하지 않아 방향만 참고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43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제5부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지키는 아이들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3246120"/>
            <a:ext cx="384048" cy="384048"/>
          </a:xfrm>
          <a:prstGeom prst="ellipse">
            <a:avLst/>
          </a:prstGeom>
          <a:solidFill>
            <a:srgbClr val="E270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32461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흔들려도 무너지지 않는 정체성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813048"/>
            <a:ext cx="384048" cy="384048"/>
          </a:xfrm>
          <a:prstGeom prst="ellipse">
            <a:avLst/>
          </a:prstGeom>
          <a:solidFill>
            <a:srgbClr val="E270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13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시대에도 수학을 공부하는 이유</a:t>
            </a:r>
            <a:endParaRPr lang="en-US" sz="1700" dirty="0"/>
          </a:p>
        </p:txBody>
      </p:sp>
      <p:pic>
        <p:nvPicPr>
          <p:cNvPr id="10" name="Image 0" descr="지키는 아이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3775" y="1922410"/>
            <a:ext cx="5669280" cy="3013181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374136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374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10장 · 흔들려도 무너지지 않는 정체성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잘한다는 믿음 위에 방법과 이유가 쌓일 때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3776" y="2653988"/>
            <a:ext cx="6419088" cy="26015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잘한다는 믿음 위에 방법과 이유가 쌓일 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08852"/>
            <a:ext cx="6309360" cy="24918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23760" y="1847088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2237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1828800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성공은 매일 지켜 내는 상태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지키는 힘은 안에 쌓아 둔 방법과 이유에서 나온다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223760" y="2846832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223760" y="2846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2828544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만약 ~하면, ~한다 카드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흔들리는 순간을 미리 떠올리고 그때 할 행동을 짝지어 둔다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223760" y="3846576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223760" y="3846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3828288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떠올리기 한 단계를 덧붙이기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쓰는 공부법과 가장 효과 있는 공부법은 다르다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223760" y="4800600"/>
            <a:ext cx="4419295" cy="1371600"/>
          </a:xfrm>
          <a:prstGeom prst="roundRect">
            <a:avLst>
              <a:gd name="adj" fmla="val 8000"/>
            </a:avLst>
          </a:prstGeom>
          <a:solidFill>
            <a:srgbClr val="FCEDE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498080" y="4965192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5257800"/>
            <a:ext cx="3870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지키는 힘은 타고난 열정이 아니라 기르는 습관이다  하루 빠져도 다음 날 다시 하면 된다</a:t>
            </a:r>
            <a:endParaRPr lang="en-US" sz="14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374136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374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10장 · 흔들려도 무너지지 않는 정체성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나도 수학 하는 사람들 속에 있다는 느낌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278831" y="2512768"/>
            <a:ext cx="6419088" cy="28840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나도 수학 하는 사람들 속에 있다는 느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3695" y="2567632"/>
            <a:ext cx="6309360" cy="277429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847088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1828800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소속감을 흔드는 메시지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능력은 타고난다, 여자는 수학을 못한다  함께 작용하면 계속할 마음이 약해진다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2846832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2846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828544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소속감을 지키는 메시지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능력은 기를 수 있다는 메시지를 느낀 학생은 고정관념이 있어도 소속감을 지켰다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3846576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846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3828288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소속감은 앞으로를 예측한다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성적과 별개로 수학을 계속할지를 예측했다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4800600"/>
            <a:ext cx="4419295" cy="1371600"/>
          </a:xfrm>
          <a:prstGeom prst="roundRect">
            <a:avLst>
              <a:gd name="adj" fmla="val 8000"/>
            </a:avLst>
          </a:prstGeom>
          <a:solidFill>
            <a:srgbClr val="FCEDE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22960" y="4965192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교사가 해 볼 한 가지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257800"/>
            <a:ext cx="3870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학년 초에 이 반의 누구나 수학을 할 수 있게 될 것이라는 메시지를 분명히 건네자</a:t>
            </a:r>
            <a:endParaRPr lang="en-US" sz="14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374136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374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10장 · 흔들려도 무너지지 않는 정체성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정체성을 지키는 한 주의 루틴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560320" cy="2834640"/>
          </a:xfrm>
          <a:prstGeom prst="roundRect">
            <a:avLst>
              <a:gd name="adj" fmla="val 3571"/>
            </a:avLst>
          </a:prstGeom>
          <a:solidFill>
            <a:srgbClr val="E8F3F1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· 10분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246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떠올리기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49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책을 덮고 어제 배운 개념과 풀이를 적어 본다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83280" y="1828800"/>
            <a:ext cx="2560320" cy="2834640"/>
          </a:xfrm>
          <a:prstGeom prst="roundRect">
            <a:avLst>
              <a:gd name="adj" fmla="val 3571"/>
            </a:avLst>
          </a:prstGeom>
          <a:solidFill>
            <a:srgbClr val="FDF3E1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0" y="2103120"/>
            <a:ext cx="640080" cy="64008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576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9A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2회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3246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섞어 풀기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3749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단원 문제를 섞어 유형을 골라내며 푼다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1828800"/>
            <a:ext cx="2560320" cy="2834640"/>
          </a:xfrm>
          <a:prstGeom prst="roundRect">
            <a:avLst>
              <a:gd name="adj" fmla="val 3571"/>
            </a:avLst>
          </a:prstGeom>
          <a:solidFill>
            <a:srgbClr val="FCEDE7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2103120"/>
            <a:ext cx="640080" cy="640080"/>
          </a:xfrm>
          <a:prstGeom prst="ellipse">
            <a:avLst/>
          </a:prstGeom>
          <a:solidFill>
            <a:srgbClr val="E270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1회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246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나누기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3749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친구에게 설명하거나 모임에서 한 문제를 토론한다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052560" y="1828800"/>
            <a:ext cx="2560320" cy="2834640"/>
          </a:xfrm>
          <a:prstGeom prst="roundRect">
            <a:avLst>
              <a:gd name="adj" fmla="val 3571"/>
            </a:avLst>
          </a:prstGeom>
          <a:solidFill>
            <a:srgbClr val="EAF0F6"/>
          </a:solidFill>
          <a:ln/>
        </p:spPr>
      </p:sp>
      <p:sp>
        <p:nvSpPr>
          <p:cNvPr id="26" name="Shape 24"/>
          <p:cNvSpPr/>
          <p:nvPr/>
        </p:nvSpPr>
        <p:spPr>
          <a:xfrm>
            <a:off x="9326880" y="2103120"/>
            <a:ext cx="640080" cy="6400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3268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32688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 · 10분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326880" y="3246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돌아보기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9326880" y="3749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성찰일지에 이번 주 잘된 점과 바꿀 점을 적는다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4937760"/>
            <a:ext cx="11094415" cy="1234440"/>
          </a:xfrm>
          <a:prstGeom prst="roundRect">
            <a:avLst>
              <a:gd name="adj" fmla="val 8889"/>
            </a:avLst>
          </a:prstGeom>
          <a:solidFill>
            <a:srgbClr val="EAF0F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2960" y="5102352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539496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달쯤 이어 가면 애쓰지 않아도 몸이 먼저 움직이기 시작한다  하루 빠져도 다음 날 다시 하면 된다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771900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771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11장 · AI 시대에도 수학을 공부하는 이유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AI도 답을 받아 적으면 생각을 빼앗는다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783080"/>
          <a:ext cx="58521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766560" y="1847088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7665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1828800"/>
            <a:ext cx="4343400" cy="1200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 때 잘 되는 느낌은 실력이 아니다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주는 AI로 연습한 학생은 AI 없는 시험에서 17% 낮았다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766560" y="3212592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766560" y="3212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0" y="3194304"/>
            <a:ext cx="4343400" cy="1200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헤매고, 그다음에 묻는다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헤맨 시간은 버린 시간이 아니라 배울 자리를 파 놓는 시간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766560" y="4578096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766560" y="4578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0" y="4559808"/>
            <a:ext cx="4343400" cy="1200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사다리, 한 칸씩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10분 → 개념 묻기 → 방향 힌트 → 다음 한 단계 → 풀이 확인  마지막은 AI 없이 내 말로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766560" y="58978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 Bastani 외(2025) · 고등학생 약 1,000명 현장 실험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771900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771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11장 · AI 시대에도 수학을 공부하는 이유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교사의 네 가지 역할, AI와 사람은 무엇을 나눌까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9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206240"/>
                <a:gridCol w="533095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잘 맡을 수 있는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A2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지켜야 할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C7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수업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맞춤형 연습과 개별 진도, 반복 설명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왜 배울지 정하는 가치 판단, 질문을 끌어내고 기다려 주기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지식 자원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방대한 정보의 정리, 필요한 자료 찾아 주기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지식이 믿을 만한지 가려내기, 지식을 삶과 연결하기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즉시 채점과 오답 분류, 맞춤형 문제 추천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과정과 노력을 알아보기, 평가를 작은 성공의 무대로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상태 기록과 진단, 상담의 보조 도구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믿음의 관계 만들기, 단계에 맞는 지지와 공감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7150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반복되고 정형화된 일은 AI에게, 공감과 가치 판단은 사람에게  그 경계를 지키는 것은 교실의 몫이다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43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제6부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곁의 어른들에게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3246120"/>
            <a:ext cx="384048" cy="384048"/>
          </a:xfrm>
          <a:prstGeom prst="ellipse">
            <a:avLst/>
          </a:prstGeom>
          <a:solidFill>
            <a:srgbClr val="E270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32461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부모와 교사가 할 수 있는 일</a:t>
            </a:r>
            <a:endParaRPr lang="en-US" sz="1700" dirty="0"/>
          </a:p>
        </p:txBody>
      </p:sp>
      <p:pic>
        <p:nvPicPr>
          <p:cNvPr id="7" name="Image 0" descr="곁의 어른들에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3775" y="1922410"/>
            <a:ext cx="5669280" cy="301318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374136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374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12장 · 부모와 교사가 할 수 있는 일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계단마다 곁의 어른이 할 수 있는 일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9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722876"/>
                <a:gridCol w="4722876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부모가 할 수 있는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70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교사가 할 수 있는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8C7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시작하기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결과보다 응원, 믿고 맡기는 기대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수학과 아이의 꿈을 잇는 대화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이전 개념과 잇는 도입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쉬운 문제로 첫 성공 설계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쌓기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작은 성공을 알아보고 함께 기뻐하기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아이가 설명하고 부모가 듣기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쪼갠 목표와 선명한 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성찰일지와 되돌려 주는 피드백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버티기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불안을 인정해 주는 말 한마디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질문이 부끄럽지 않은 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도움 요청을 칭찬하는 교실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친구 멘토링과 학습 모임 초대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3A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지키기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흔들릴 때 지난 회복 경험 떠올리게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규칙을 함께 만들고 지키기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섞어 풀기와 떠올리기 과제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사다리를 수업에서 가르치기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것을 다 할 필요는 없다  지금 아이가 선 계단을 보고 그 계단에 맞는 일 하나를 하면 된다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374136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374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12장 · 부모와 교사가 할 수 있는 일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환경적 지원, 무대와 촉진제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3776" y="2653988"/>
            <a:ext cx="6419088" cy="26015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두 가지 환경적 지원, 무대와 촉진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08852"/>
            <a:ext cx="6309360" cy="24918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23760" y="1847088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2237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1828800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무대  직접적 · 안정적 지원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· 도구 · 배움의 기회는 성공을 경험할 기회를 넓혀 준다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223760" y="2846832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223760" y="2846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2828544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촉진제  간접적 지원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성향과 수학적 의사소통이 아이에게 맞으면 성공을 앞당긴다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223760" y="3846576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223760" y="3846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3828288"/>
            <a:ext cx="387065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칭찬은 모양까지 오래 남는다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칭찬할 때 그 결과에 이른 과정을 함께 비추어 준다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223760" y="4800600"/>
            <a:ext cx="4419295" cy="1371600"/>
          </a:xfrm>
          <a:prstGeom prst="roundRect">
            <a:avLst>
              <a:gd name="adj" fmla="val 8000"/>
            </a:avLst>
          </a:prstGeom>
          <a:solidFill>
            <a:srgbClr val="FCEDE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498080" y="4965192"/>
            <a:ext cx="3870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498080" y="5257800"/>
            <a:ext cx="3870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교사가 아이의 계단을 보려면 먼저 교사에게 시간이 필요하다  그것은 학교와 사회의 몫이다</a:t>
            </a:r>
            <a:endParaRPr lang="en-US" sz="14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374136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374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12장 · 부모와 교사가 할 수 있는 일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교사가 아이의 계단을 보려면 먼저 교사에게 시간이 필요하다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783080"/>
          <a:ext cx="57607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675120" y="1783080"/>
            <a:ext cx="4983480" cy="2103120"/>
          </a:xfrm>
          <a:prstGeom prst="roundRect">
            <a:avLst>
              <a:gd name="adj" fmla="val 4348"/>
            </a:avLst>
          </a:prstGeom>
          <a:solidFill>
            <a:srgbClr val="FCEDE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903720" y="20116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71.7%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28803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고등학교 교사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324612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어려움을 겪는 학생이 학년 초보다 줄지 않았다 (초 35.3% · 중 58.9%)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75120" y="4114800"/>
            <a:ext cx="4983480" cy="2057400"/>
          </a:xfrm>
          <a:prstGeom prst="roundRect">
            <a:avLst>
              <a:gd name="adj" fmla="val 5333"/>
            </a:avLst>
          </a:prstGeom>
          <a:solidFill>
            <a:srgbClr val="FCEDE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949440" y="427939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949440" y="4572000"/>
            <a:ext cx="4434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교실을 바꾸는 것은 교사 한 사람의 의지가 아니라 교사가 배우고 고쳐 갈 시간을 마련해 주는 학교와 사회의 선택이다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172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 김소민 · 김홍겸(2019) 전국 초 · 중 · 고 수학 교사 인식조사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374136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374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12장 · 부모와 교사가 할 수 있는 일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바꾸기 어려운 것과 어른이 오늘부터 바꿀 수 있는 것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78308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315200" y="1847088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1828800"/>
            <a:ext cx="3794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배경의 차이는 크다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하지만 어른 한 사람이 당장 바꾸기 어렵다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315200" y="2907792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2889504"/>
            <a:ext cx="3794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관심과 지지는 마음을 거쳐 간다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효과는 작아 보여도 호기심과 즐거움을 거쳐 천천히 도착한다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315200" y="3968496"/>
            <a:ext cx="384048" cy="384048"/>
          </a:xfrm>
          <a:prstGeom prst="ellipse">
            <a:avLst/>
          </a:prstGeom>
          <a:solidFill>
            <a:srgbClr val="2A8C7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31520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3950208"/>
            <a:ext cx="3794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칭찬은 모양까지 오래 남는다</a:t>
            </a:r>
            <a:endParaRPr lang="en-US" sz="16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50" dirty="0">
                <a:solidFill>
                  <a:srgbClr val="5B65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칭찬할 때 그 결과에 이른 과정을 함께 비추어 준다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315200" y="4983480"/>
            <a:ext cx="4343400" cy="1188720"/>
          </a:xfrm>
          <a:prstGeom prst="roundRect">
            <a:avLst>
              <a:gd name="adj" fmla="val 9231"/>
            </a:avLst>
          </a:prstGeom>
          <a:solidFill>
            <a:srgbClr val="FCEDE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589520" y="51480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589520" y="544068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관심과 지지, 학교에서의 마음은 오늘부터 바꿀 수 있다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시점의 자료이므로 원인과 결과를 뜻하지 않는다</a:t>
            </a:r>
            <a:endParaRPr lang="en-US" sz="10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해 볼 한 가지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484778" cy="4343400"/>
          </a:xfrm>
          <a:prstGeom prst="roundRect">
            <a:avLst>
              <a:gd name="adj" fmla="val 2624"/>
            </a:avLst>
          </a:prstGeom>
          <a:solidFill>
            <a:srgbClr val="E8F3F1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2A8C7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31343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737360" y="2148840"/>
            <a:ext cx="2113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284469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서 있는 계단을 하나 골라 적고 까닭을 한 줄 남기기</a:t>
            </a:r>
            <a:endParaRPr lang="en-US" sz="15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도장깨기 판과 하루 한 줄 성공 기록 시작하기</a:t>
            </a:r>
            <a:endParaRPr lang="en-US" sz="15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열기 전에 먼저 헤매며 내 시도를 남기기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4353458" y="1828800"/>
            <a:ext cx="3484778" cy="4343400"/>
          </a:xfrm>
          <a:prstGeom prst="roundRect">
            <a:avLst>
              <a:gd name="adj" fmla="val 2624"/>
            </a:avLst>
          </a:prstGeom>
          <a:solidFill>
            <a:srgbClr val="FCEDE7"/>
          </a:solidFill>
          <a:ln/>
        </p:spPr>
      </p:sp>
      <p:sp>
        <p:nvSpPr>
          <p:cNvPr id="13" name="Shape 10"/>
          <p:cNvSpPr/>
          <p:nvPr/>
        </p:nvSpPr>
        <p:spPr>
          <a:xfrm>
            <a:off x="4673498" y="2148840"/>
            <a:ext cx="685800" cy="685800"/>
          </a:xfrm>
          <a:prstGeom prst="ellipse">
            <a:avLst/>
          </a:prstGeom>
          <a:solidFill>
            <a:srgbClr val="E2704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090" y="2313432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542178" y="2148840"/>
            <a:ext cx="2113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4673498" y="3108960"/>
            <a:ext cx="284469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머리가 좋다 · 나쁘다 대신 어디서 막혔어? 몇 분쯤 버텼어? 묻기</a:t>
            </a:r>
            <a:endParaRPr lang="en-US" sz="15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엄마도 못했어 대신 어려웠지만 이렇게 해 보니 되더라</a:t>
            </a:r>
            <a:endParaRPr lang="en-US" sz="15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숙제 한 문제를 아이에게 설명해 달라고 부탁하기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8158277" y="1828800"/>
            <a:ext cx="3484778" cy="4343400"/>
          </a:xfrm>
          <a:prstGeom prst="roundRect">
            <a:avLst>
              <a:gd name="adj" fmla="val 2624"/>
            </a:avLst>
          </a:prstGeom>
          <a:solidFill>
            <a:srgbClr val="EAF0F6"/>
          </a:solidFill>
          <a:ln/>
        </p:spPr>
      </p:sp>
      <p:sp>
        <p:nvSpPr>
          <p:cNvPr id="18" name="Shape 14"/>
          <p:cNvSpPr/>
          <p:nvPr/>
        </p:nvSpPr>
        <p:spPr>
          <a:xfrm>
            <a:off x="8478317" y="2148840"/>
            <a:ext cx="685800" cy="68580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2909" y="2313432"/>
            <a:ext cx="356616" cy="35661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346997" y="2148840"/>
            <a:ext cx="2113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8478317" y="3108960"/>
            <a:ext cx="284469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수업에서 틀린 답을 말해도 괜찮다는 약속 정하기</a:t>
            </a:r>
            <a:endParaRPr lang="en-US" sz="15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발문 뒤 3초 기다리기, 모둠에서는 답 대신 질문으로 돕기</a:t>
            </a:r>
            <a:endParaRPr lang="en-US" sz="1550" dirty="0"/>
          </a:p>
          <a:p>
            <a:pPr marL="228600" indent="-228600">
              <a:lnSpc>
                <a:spcPct val="112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과제에 AI 전 나의 시도 · AI에게 물은 질문 · AI 없이 다시 푼 풀이 칸 두기</a:t>
            </a:r>
            <a:endParaRPr lang="en-US" sz="15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446020" cy="329184"/>
          </a:xfrm>
          <a:prstGeom prst="roundRect">
            <a:avLst>
              <a:gd name="adj" fmla="val 50000"/>
            </a:avLst>
          </a:prstGeom>
          <a:solidFill>
            <a:srgbClr val="E8F3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446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에필로그 · 따로 있지 않다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계단을 다시 걸으며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 · 김홍겸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FDF3E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9A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시작하기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661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개념을 이전 개념과 잇고, 나만의 이유 하나를 찾았다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83280" y="246888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CEDE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697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쌓기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2461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목표를 쪼개 작은 성공을 쌓고, 나에게 맞는 공부 방식을 얻었다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2148840"/>
            <a:ext cx="2560320" cy="2423160"/>
          </a:xfrm>
          <a:prstGeom prst="roundRect">
            <a:avLst>
              <a:gd name="adj" fmla="val 3774"/>
            </a:avLst>
          </a:prstGeom>
          <a:solidFill>
            <a:srgbClr val="E8F3F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A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버티기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9260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불안과 함께 가는 법을 배웠고, 무너졌을 때 혼자가 아니었다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052560" y="182880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EAF0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326880" y="2057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지키기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26060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흔들릴 때마다 안에 쌓아 둔 방법과 이유로 다시 섰다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11094415" cy="1325880"/>
          </a:xfrm>
          <a:prstGeom prst="roundRect">
            <a:avLst>
              <a:gd name="adj" fmla="val 8276"/>
            </a:avLst>
          </a:prstGeom>
          <a:solidFill>
            <a:srgbClr val="FCEDE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010912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27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문장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30352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수학을 잘하는 아이는 도착한 아이가 아니라, 지금도 계단 위를 걷고 있는 아이다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쉽다는 뜻은 아니다  시간과 애씀과 곁의 도움이 있다면 그 계단은 누구에게나 열려 있다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에필로그 삽화">    </p:cNvPr>
          <p:cNvPicPr>
            <a:picLocks noChangeAspect="1"/>
          </p:cNvPicPr>
          <p:nvPr/>
        </p:nvPicPr>
        <p:blipFill>
          <a:blip r:embed="rId1">
            <a:alphaModFix amt="28000"/>
          </a:blip>
          <a:stretch>
            <a:fillRect/>
          </a:stretch>
        </p:blipFill>
        <p:spPr>
          <a:xfrm>
            <a:off x="-355794" y="0"/>
            <a:ext cx="1290328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A45">
              <a:alpha val="6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097280" y="1737360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4A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EPILOGUE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2377440"/>
            <a:ext cx="99971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잘하는 아이는 따로 있지 않다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3657600"/>
            <a:ext cx="90827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CE6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곁의 어른과 함께, 그렇게 되어 가는 아이가 있을 뿐이다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수학 잘하는 아이는 따로 있지 않다 · 김홍겸</dc:title>
  <dc:subject>PptxGenJS Presentation</dc:subject>
  <dc:creator>김홍겸 원저 · 요약 슬라이드</dc:creator>
  <cp:lastModifiedBy>김홍겸 원저 · 요약 슬라이드</cp:lastModifiedBy>
  <cp:revision>1</cp:revision>
  <dcterms:created xsi:type="dcterms:W3CDTF">2026-09-26T14:18:34Z</dcterms:created>
  <dcterms:modified xsi:type="dcterms:W3CDTF">2026-09-26T14:18:34Z</dcterms:modified>
</cp:coreProperties>
</file>